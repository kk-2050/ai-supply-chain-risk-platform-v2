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embeddedFontLst>
    <p:embeddedFont>
      <p:font typeface="Nunito"/>
      <p:regular r:id="rId201314"/>
    </p:embeddedFont>
    <p:embeddedFont>
      <p:font typeface="Nunito SemiBold"/>
      <p:regular r:id="rId201315"/>
    </p:embeddedFont>
    <p:embeddedFont>
      <p:font typeface="Nunito Bold"/>
      <p:regular r:id="rId201316"/>
    </p:embeddedFont>
    <p:embeddedFont>
      <p:font typeface="Nunito Black"/>
      <p:regular r:id="rId201317"/>
    </p:embeddedFont>
    <p:embeddedFont>
      <p:font typeface="PT Sans"/>
      <p:regular r:id="rId201318"/>
    </p:embeddedFont>
    <p:embeddedFont>
      <p:font typeface="PT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svg"/><Relationship Id="rId6" Type="http://schemas.openxmlformats.org/officeDocument/2006/relationships/image" Target="../media/image-12-6.png"/><Relationship Id="rId7" Type="http://schemas.openxmlformats.org/officeDocument/2006/relationships/image" Target="../media/image-12-7.svg"/><Relationship Id="rId8" Type="http://schemas.openxmlformats.org/officeDocument/2006/relationships/image" Target="../media/image-12-8.png"/><Relationship Id="rId9" Type="http://schemas.openxmlformats.org/officeDocument/2006/relationships/image" Target="../media/image-12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10" y="602531"/>
            <a:ext cx="3298106" cy="39383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695971"/>
            <a:ext cx="4667845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Supply Chain Risk Intelligence Platform v2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52577" y="2662163"/>
            <a:ext cx="4667845" cy="785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AI-assisted workflow automation for supply chain risk monitoring, executive alerting, and operational intelligence — turning hours of manual effort into minutes of decisive action.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74972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Business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021705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Supply chain risk moves faster than email threads.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By the time a critical supplier disruption surfaces through manual monitoring, the window for early response has often already closed.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587773"/>
            <a:ext cx="3982938" cy="11895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5909" y="1732955"/>
            <a:ext cx="363542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Manual Monitoring Overload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25909" y="2003971"/>
            <a:ext cx="363542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Teams juggle scattered news sources, spreadsheets, and ad-hoc alerts with no consistent framework for triage or escalation.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7410" y="1587773"/>
            <a:ext cx="3983013" cy="11895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39742" y="1732955"/>
            <a:ext cx="363549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Delayed Leadership Escalation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839742" y="2003971"/>
            <a:ext cx="3635499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Critical events reach decision-makers too late — often after disruptions have already impacted production or logistics schedules.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2908250"/>
            <a:ext cx="3982938" cy="11895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5909" y="3053432"/>
            <a:ext cx="363542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Alert Fatigue &amp; Noise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25909" y="3324448"/>
            <a:ext cx="3635425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Without intelligent scoring, every event feels equally urgent — causing teams to tune out alerts entirely, missing the ones that matter most.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7410" y="2908250"/>
            <a:ext cx="3983013" cy="11895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39742" y="3053432"/>
            <a:ext cx="363549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No Centralized Visibility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839742" y="3324448"/>
            <a:ext cx="3635499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Risk data lives in inboxes, tabs, and silos. There is no single source of truth for supply chain risk status across the organization.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523577" y="4245099"/>
            <a:ext cx="8096845" cy="523429"/>
          </a:xfrm>
          <a:prstGeom prst="roundRect">
            <a:avLst>
              <a:gd name="adj" fmla="val 37516"/>
            </a:avLst>
          </a:prstGeom>
          <a:solidFill>
            <a:srgbClr val="45070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472" y="4432176"/>
            <a:ext cx="163637" cy="13089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49003" y="4408661"/>
            <a:ext cx="7997726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cost of late response is measured in production delays, missed SLAs, and critical events that could have been avoided.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4784"/>
            <a:ext cx="8096845" cy="240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Solution Overview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23577" y="757610"/>
            <a:ext cx="8554045" cy="10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From news to action in minutes, not days.</a:t>
            </a:r>
            <a:endParaRPr lang="en-US" sz="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921544"/>
            <a:ext cx="245418" cy="714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0117" y="1003325"/>
            <a:ext cx="7800305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RSS News Feed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20117" y="1154311"/>
            <a:ext cx="7800305" cy="243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Demo : every 6 hours</a:t>
            </a:r>
            <a:endParaRPr lang="en-US" sz="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Production : 30 minutes</a:t>
            </a:r>
            <a:endParaRPr lang="en-US" sz="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86" y="1530697"/>
            <a:ext cx="245418" cy="7143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2826" y="1612478"/>
            <a:ext cx="7677596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Age Filter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942826" y="1763464"/>
            <a:ext cx="7677596" cy="10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24 hours only · stale news blocked</a:t>
            </a:r>
            <a:endParaRPr lang="en-US" sz="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95" y="2072729"/>
            <a:ext cx="245418" cy="7143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5535" y="2154510"/>
            <a:ext cx="7554888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URL Deduplication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1065535" y="2305496"/>
            <a:ext cx="7554888" cy="10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Same article never processed twice</a:t>
            </a:r>
            <a:endParaRPr lang="en-US" sz="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04" y="2614761"/>
            <a:ext cx="245418" cy="7143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244" y="2696542"/>
            <a:ext cx="7432179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Risk Analysis</a:t>
            </a:r>
            <a:endParaRPr lang="en-US" sz="750" dirty="0"/>
          </a:p>
        </p:txBody>
      </p:sp>
      <p:sp>
        <p:nvSpPr>
          <p:cNvPr id="15" name="Text 9"/>
          <p:cNvSpPr/>
          <p:nvPr/>
        </p:nvSpPr>
        <p:spPr>
          <a:xfrm>
            <a:off x="1188244" y="2847529"/>
            <a:ext cx="7432179" cy="10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GPT-4o-mini · scoring · categorization</a:t>
            </a:r>
            <a:endParaRPr lang="en-US" sz="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995" y="3156793"/>
            <a:ext cx="245418" cy="7143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65535" y="3238574"/>
            <a:ext cx="7554888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Google Sheets Logging</a:t>
            </a:r>
            <a:endParaRPr lang="en-US" sz="750" dirty="0"/>
          </a:p>
        </p:txBody>
      </p:sp>
      <p:sp>
        <p:nvSpPr>
          <p:cNvPr id="18" name="Text 11"/>
          <p:cNvSpPr/>
          <p:nvPr/>
        </p:nvSpPr>
        <p:spPr>
          <a:xfrm>
            <a:off x="1065535" y="3389561"/>
            <a:ext cx="7554888" cy="10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All events · full audit log</a:t>
            </a:r>
            <a:endParaRPr lang="en-US" sz="6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286" y="3698825"/>
            <a:ext cx="245418" cy="7143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42826" y="3780606"/>
            <a:ext cx="7677596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Risk Score Threshold</a:t>
            </a:r>
            <a:endParaRPr lang="en-US" sz="750" dirty="0"/>
          </a:p>
        </p:txBody>
      </p:sp>
      <p:sp>
        <p:nvSpPr>
          <p:cNvPr id="21" name="Text 13"/>
          <p:cNvSpPr/>
          <p:nvPr/>
        </p:nvSpPr>
        <p:spPr>
          <a:xfrm>
            <a:off x="942826" y="3931593"/>
            <a:ext cx="7677596" cy="10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Routes to one of three outcomes</a:t>
            </a:r>
            <a:endParaRPr lang="en-US" sz="600" dirty="0"/>
          </a:p>
        </p:txBody>
      </p:sp>
      <p:sp>
        <p:nvSpPr>
          <p:cNvPr id="22" name="Shape 14"/>
          <p:cNvSpPr/>
          <p:nvPr/>
        </p:nvSpPr>
        <p:spPr>
          <a:xfrm>
            <a:off x="464641" y="4247257"/>
            <a:ext cx="2656061" cy="481385"/>
          </a:xfrm>
          <a:prstGeom prst="roundRect">
            <a:avLst>
              <a:gd name="adj" fmla="val 40792"/>
            </a:avLst>
          </a:prstGeom>
          <a:solidFill>
            <a:srgbClr val="C0392B">
              <a:alpha val="75000"/>
            </a:srgbClr>
          </a:solidFill>
          <a:ln/>
        </p:spPr>
      </p:sp>
      <p:sp>
        <p:nvSpPr>
          <p:cNvPr id="23" name="Text 15"/>
          <p:cNvSpPr/>
          <p:nvPr/>
        </p:nvSpPr>
        <p:spPr>
          <a:xfrm>
            <a:off x="546422" y="4298379"/>
            <a:ext cx="2492499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Score ≥ 4.5</a:t>
            </a:r>
            <a:endParaRPr lang="en-US" sz="750" dirty="0"/>
          </a:p>
        </p:txBody>
      </p:sp>
      <p:sp>
        <p:nvSpPr>
          <p:cNvPr id="24" name="Text 16"/>
          <p:cNvSpPr/>
          <p:nvPr/>
        </p:nvSpPr>
        <p:spPr>
          <a:xfrm>
            <a:off x="546422" y="4469829"/>
            <a:ext cx="2492499" cy="21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CRITICAL ALERT</a:t>
            </a:r>
            <a:endParaRPr lang="en-US" sz="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Immediate email per event</a:t>
            </a:r>
            <a:endParaRPr lang="en-US" sz="600" dirty="0"/>
          </a:p>
        </p:txBody>
      </p:sp>
      <p:sp>
        <p:nvSpPr>
          <p:cNvPr id="25" name="Shape 17"/>
          <p:cNvSpPr/>
          <p:nvPr/>
        </p:nvSpPr>
        <p:spPr>
          <a:xfrm>
            <a:off x="3207172" y="4247257"/>
            <a:ext cx="2739033" cy="481385"/>
          </a:xfrm>
          <a:prstGeom prst="roundRect">
            <a:avLst>
              <a:gd name="adj" fmla="val 40792"/>
            </a:avLst>
          </a:prstGeom>
          <a:solidFill>
            <a:srgbClr val="F2B42D">
              <a:alpha val="75000"/>
            </a:srgbClr>
          </a:solidFill>
          <a:ln/>
        </p:spPr>
      </p:sp>
      <p:sp>
        <p:nvSpPr>
          <p:cNvPr id="26" name="Text 18"/>
          <p:cNvSpPr/>
          <p:nvPr/>
        </p:nvSpPr>
        <p:spPr>
          <a:xfrm>
            <a:off x="3288953" y="4298379"/>
            <a:ext cx="2575471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Score 3.5–4.49</a:t>
            </a:r>
            <a:endParaRPr lang="en-US" sz="750" dirty="0"/>
          </a:p>
        </p:txBody>
      </p:sp>
      <p:sp>
        <p:nvSpPr>
          <p:cNvPr id="27" name="Text 19"/>
          <p:cNvSpPr/>
          <p:nvPr/>
        </p:nvSpPr>
        <p:spPr>
          <a:xfrm>
            <a:off x="3288953" y="4469829"/>
            <a:ext cx="2575471" cy="21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DAILY SUMMARY</a:t>
            </a:r>
            <a:endParaRPr lang="en-US" sz="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5AM / 2PM CST</a:t>
            </a:r>
            <a:endParaRPr lang="en-US" sz="600" dirty="0"/>
          </a:p>
        </p:txBody>
      </p:sp>
      <p:sp>
        <p:nvSpPr>
          <p:cNvPr id="28" name="Shape 20"/>
          <p:cNvSpPr/>
          <p:nvPr/>
        </p:nvSpPr>
        <p:spPr>
          <a:xfrm>
            <a:off x="6032674" y="4247257"/>
            <a:ext cx="2656061" cy="481385"/>
          </a:xfrm>
          <a:prstGeom prst="roundRect">
            <a:avLst>
              <a:gd name="adj" fmla="val 40792"/>
            </a:avLst>
          </a:prstGeom>
          <a:solidFill>
            <a:srgbClr val="6B7280">
              <a:alpha val="75000"/>
            </a:srgbClr>
          </a:solidFill>
          <a:ln/>
        </p:spPr>
      </p:sp>
      <p:sp>
        <p:nvSpPr>
          <p:cNvPr id="29" name="Text 21"/>
          <p:cNvSpPr/>
          <p:nvPr/>
        </p:nvSpPr>
        <p:spPr>
          <a:xfrm>
            <a:off x="6114455" y="4298379"/>
            <a:ext cx="2492499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Score &lt; 3.5</a:t>
            </a:r>
            <a:endParaRPr lang="en-US" sz="750" dirty="0"/>
          </a:p>
        </p:txBody>
      </p:sp>
      <p:sp>
        <p:nvSpPr>
          <p:cNvPr id="30" name="Text 22"/>
          <p:cNvSpPr/>
          <p:nvPr/>
        </p:nvSpPr>
        <p:spPr>
          <a:xfrm>
            <a:off x="6114455" y="4469829"/>
            <a:ext cx="2492499" cy="21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LOG ONLY</a:t>
            </a:r>
            <a:endParaRPr lang="en-US" sz="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Logged for audit only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06598"/>
            <a:ext cx="8096845" cy="324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Enterprise Technology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3577" y="917823"/>
            <a:ext cx="855404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Layered enterprise architecture enables scalable, maintainable, and technology-independent business solutions.</a:t>
            </a:r>
            <a:endParaRPr lang="en-US" sz="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257598"/>
            <a:ext cx="276076" cy="2760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6112" y="1257598"/>
            <a:ext cx="150606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Business Experience Layer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16112" y="1675507"/>
            <a:ext cx="1506066" cy="474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Executive dashboards, business notifications, and reporting</a:t>
            </a:r>
            <a:endParaRPr lang="en-US" sz="6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Executive Notifications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916112" y="2233910"/>
            <a:ext cx="1506066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Gmail Alerts (Demo)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16112" y="2447999"/>
            <a:ext cx="1506066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Executive Dashboards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916112" y="2662089"/>
            <a:ext cx="1506066" cy="455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Pages Dashboard (Demo)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Executive Web Portal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HTML Dashboard (Demo)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16112" y="3201814"/>
            <a:ext cx="1506066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Analytics Platforms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916112" y="3415903"/>
            <a:ext cx="1506066" cy="61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Power BI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Tableau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Looker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Qlik Sense</a:t>
            </a:r>
            <a:endParaRPr lang="en-US" sz="8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8636" y="1257598"/>
            <a:ext cx="276076" cy="2760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31170" y="1257598"/>
            <a:ext cx="1506141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Workflow Automation Layer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931170" y="1675507"/>
            <a:ext cx="1506141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Business process orchestration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2931170" y="1889596"/>
            <a:ext cx="1506141" cy="781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n8n Cloud (Demo)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n8n Enterprise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Azure Logic Apps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Microsoft Power Automate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Camunda</a:t>
            </a:r>
            <a:endParaRPr lang="en-US" sz="8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1452" y="1257598"/>
            <a:ext cx="276076" cy="2760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03986" y="1257598"/>
            <a:ext cx="150606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Intelligence Layer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03986" y="1513136"/>
            <a:ext cx="1506066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AI-assisted business reasoning</a:t>
            </a:r>
            <a:endParaRPr lang="en-US" sz="650" dirty="0"/>
          </a:p>
        </p:txBody>
      </p:sp>
      <p:sp>
        <p:nvSpPr>
          <p:cNvPr id="19" name="Text 14"/>
          <p:cNvSpPr/>
          <p:nvPr/>
        </p:nvSpPr>
        <p:spPr>
          <a:xfrm>
            <a:off x="5103986" y="1727225"/>
            <a:ext cx="1506066" cy="781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OpenAI GPT-4o-mini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Risk Classification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Risk Scoring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Executive Summary Generation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Recommendations</a:t>
            </a:r>
            <a:endParaRPr lang="en-US" sz="8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26510" y="1257598"/>
            <a:ext cx="276076" cy="2760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19045" y="1257598"/>
            <a:ext cx="1506141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119045" y="1513136"/>
            <a:ext cx="1506141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Enterprise operational data</a:t>
            </a:r>
            <a:endParaRPr lang="en-US" sz="650" dirty="0"/>
          </a:p>
        </p:txBody>
      </p:sp>
      <p:sp>
        <p:nvSpPr>
          <p:cNvPr id="23" name="Text 17"/>
          <p:cNvSpPr/>
          <p:nvPr/>
        </p:nvSpPr>
        <p:spPr>
          <a:xfrm>
            <a:off x="7119045" y="1727225"/>
            <a:ext cx="1506141" cy="9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Google Sheets (Demo)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 Server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Azure SQL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Production-ready Schema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Audit Logging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Event History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523577" y="4244132"/>
            <a:ext cx="8096845" cy="492696"/>
          </a:xfrm>
          <a:prstGeom prst="roundRect">
            <a:avLst>
              <a:gd name="adj" fmla="val 33628"/>
            </a:avLst>
          </a:prstGeom>
          <a:solidFill>
            <a:srgbClr val="78550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008" y="4382839"/>
            <a:ext cx="110430" cy="8832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54869" y="4364906"/>
            <a:ext cx="7655123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Layered Enterprise Technology Architecture decouples Business Experience, Workflow Automation, AI Intelligence, and Data into independently evolvable architectural layers, improving scalability, maintainability, governance, and long-term technology flexibility.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1761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548631"/>
            <a:ext cx="8096845" cy="276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Critical Alert Workflow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23577" y="1926729"/>
            <a:ext cx="8554045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High-risk events are escalated </a:t>
            </a:r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immediately and automatically</a:t>
            </a:r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no human triage required to trigger an alert to leadership.</a:t>
            </a:r>
            <a:endParaRPr lang="en-US" sz="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77" y="2132112"/>
            <a:ext cx="470446" cy="5645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61591" y="2226171"/>
            <a:ext cx="755883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RSS Ingest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1061591" y="2405137"/>
            <a:ext cx="7558832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Feeds polled every 30 min in production (every 6 hrs in demo)</a:t>
            </a:r>
            <a:endParaRPr lang="en-US" sz="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2696617"/>
            <a:ext cx="470446" cy="5645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61591" y="2790676"/>
            <a:ext cx="755883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Filter &amp; Dedupe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1061591" y="2969642"/>
            <a:ext cx="7558832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24-hour age filter applied; duplicate URLs suppressed before analysis</a:t>
            </a:r>
            <a:endParaRPr lang="en-US" sz="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77" y="3261122"/>
            <a:ext cx="470446" cy="56450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61591" y="3355181"/>
            <a:ext cx="755883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Scoring</a:t>
            </a:r>
            <a:endParaRPr lang="en-US" sz="850" dirty="0"/>
          </a:p>
        </p:txBody>
      </p:sp>
      <p:sp>
        <p:nvSpPr>
          <p:cNvPr id="13" name="Text 7"/>
          <p:cNvSpPr/>
          <p:nvPr/>
        </p:nvSpPr>
        <p:spPr>
          <a:xfrm>
            <a:off x="1061591" y="3534147"/>
            <a:ext cx="7558832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GPT-4o-mini evaluates severity, operational impact, and urgency</a:t>
            </a:r>
            <a:endParaRPr lang="en-US" sz="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77" y="3825627"/>
            <a:ext cx="470446" cy="56450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61591" y="3919686"/>
            <a:ext cx="755883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Immediate Alert</a:t>
            </a:r>
            <a:endParaRPr lang="en-US" sz="850" dirty="0"/>
          </a:p>
        </p:txBody>
      </p:sp>
      <p:sp>
        <p:nvSpPr>
          <p:cNvPr id="16" name="Text 9"/>
          <p:cNvSpPr/>
          <p:nvPr/>
        </p:nvSpPr>
        <p:spPr>
          <a:xfrm>
            <a:off x="1061591" y="4098652"/>
            <a:ext cx="7558832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Score ≥ 4.5 triggers instant email with source link and AI summary</a:t>
            </a:r>
            <a:endParaRPr lang="en-US" sz="700" dirty="0"/>
          </a:p>
        </p:txBody>
      </p:sp>
      <p:sp>
        <p:nvSpPr>
          <p:cNvPr id="17" name="Shape 10"/>
          <p:cNvSpPr/>
          <p:nvPr/>
        </p:nvSpPr>
        <p:spPr>
          <a:xfrm>
            <a:off x="523577" y="4466183"/>
            <a:ext cx="8096845" cy="304726"/>
          </a:xfrm>
          <a:prstGeom prst="roundRect">
            <a:avLst>
              <a:gd name="adj" fmla="val 46317"/>
            </a:avLst>
          </a:prstGeom>
          <a:solidFill>
            <a:srgbClr val="183A13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637" y="4591943"/>
            <a:ext cx="117574" cy="9405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9270" y="4557266"/>
            <a:ext cx="8154293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critical alert includes the source article as evidence — giving leadership the context to act, not just the notification to react.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636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2037755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Operational Summary Workflow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577" y="2619003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One email. Full operational picture. Twice a day.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The summary workflow consolidates mid-tier risk events into structured digest emails designed for leadership consumption — not inbox overload.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29295" y="3185071"/>
            <a:ext cx="4077295" cy="990898"/>
          </a:xfrm>
          <a:prstGeom prst="roundRect">
            <a:avLst>
              <a:gd name="adj" fmla="val 31707"/>
            </a:avLst>
          </a:prstGeom>
          <a:solidFill>
            <a:srgbClr val="F2B42D">
              <a:alpha val="7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60189" y="3315965"/>
            <a:ext cx="381550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🕔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5:00 AM CST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0189" y="3639369"/>
            <a:ext cx="3815507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Morning digest covering overnight events — optimized for Eastern time zone executives starting their day with situational awareness.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36455" y="3315965"/>
            <a:ext cx="388873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🕑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2:00 PM CST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36455" y="3639369"/>
            <a:ext cx="3888730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Afternoon digest for Pacific time zone coverage — ensuring no region misses a consolidated risk summary before end of business.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23577" y="4323234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Each summary email contains an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AI-generated Executive Summary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top-ranked risks with scores and supplier names, recommended actions, and a full source events table with clickable article links — everything a leader needs to make an informed call.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01538"/>
            <a:ext cx="8096845" cy="240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Risk Scoring Methodology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23577" y="718765"/>
            <a:ext cx="8554045" cy="10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Scores reflect </a:t>
            </a:r>
            <a:pPr algn="l" indent="0" marL="0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business impact — not keyword frequency</a:t>
            </a:r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The weighted formula ensures that operational consequence drives prioritization, not just media volume.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2028602" y="1414388"/>
            <a:ext cx="1006301" cy="20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40%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171" y="903089"/>
            <a:ext cx="1227237" cy="12272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3577" y="2201838"/>
            <a:ext cx="4016499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Severity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23577" y="2352824"/>
            <a:ext cx="4016499" cy="10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Magnitude of potential harm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108948" y="1414388"/>
            <a:ext cx="1006301" cy="20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35%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518" y="903089"/>
            <a:ext cx="1227237" cy="12272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3924" y="2201838"/>
            <a:ext cx="4016499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Operational Impact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4603924" y="2352824"/>
            <a:ext cx="4016499" cy="10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Disruption to production and logistics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2028602" y="3093169"/>
            <a:ext cx="1006301" cy="20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25%</a:t>
            </a:r>
            <a:endParaRPr lang="en-US" sz="1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171" y="2581870"/>
            <a:ext cx="1227237" cy="12272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3577" y="3880619"/>
            <a:ext cx="4016499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Urgency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523577" y="4031605"/>
            <a:ext cx="4016499" cy="10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Response time requirement</a:t>
            </a:r>
            <a:endParaRPr lang="en-US" sz="600" dirty="0"/>
          </a:p>
        </p:txBody>
      </p:sp>
      <p:sp>
        <p:nvSpPr>
          <p:cNvPr id="16" name="Text 11"/>
          <p:cNvSpPr/>
          <p:nvPr/>
        </p:nvSpPr>
        <p:spPr>
          <a:xfrm>
            <a:off x="6108948" y="3093169"/>
            <a:ext cx="1006301" cy="20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0–5</a:t>
            </a:r>
            <a:endParaRPr lang="en-US" sz="1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518" y="2581870"/>
            <a:ext cx="1227237" cy="122723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03924" y="3880619"/>
            <a:ext cx="4016499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Overall Score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4603924" y="4031605"/>
            <a:ext cx="4016499" cy="10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Combined weighted result</a:t>
            </a:r>
            <a:endParaRPr lang="en-US" sz="600" dirty="0"/>
          </a:p>
        </p:txBody>
      </p:sp>
      <p:sp>
        <p:nvSpPr>
          <p:cNvPr id="20" name="Shape 14"/>
          <p:cNvSpPr/>
          <p:nvPr/>
        </p:nvSpPr>
        <p:spPr>
          <a:xfrm>
            <a:off x="523577" y="4195539"/>
            <a:ext cx="2664842" cy="546422"/>
          </a:xfrm>
          <a:prstGeom prst="roundRect">
            <a:avLst>
              <a:gd name="adj" fmla="val 22461"/>
            </a:avLst>
          </a:prstGeom>
          <a:solidFill>
            <a:srgbClr val="00002E"/>
          </a:solidFill>
          <a:ln w="9525">
            <a:solidFill>
              <a:srgbClr val="F2B42D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14883" y="4286845"/>
            <a:ext cx="2482230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🚨</a:t>
            </a:r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Score ≥ 4.5</a:t>
            </a:r>
            <a:endParaRPr lang="en-US" sz="750" dirty="0"/>
          </a:p>
        </p:txBody>
      </p:sp>
      <p:sp>
        <p:nvSpPr>
          <p:cNvPr id="22" name="Text 16"/>
          <p:cNvSpPr/>
          <p:nvPr/>
        </p:nvSpPr>
        <p:spPr>
          <a:xfrm>
            <a:off x="614883" y="4437831"/>
            <a:ext cx="2482230" cy="21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CRITICAL</a:t>
            </a:r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Immediate email alert sent per event. No delay, no batching.</a:t>
            </a:r>
            <a:endParaRPr lang="en-US" sz="600" dirty="0"/>
          </a:p>
        </p:txBody>
      </p:sp>
      <p:sp>
        <p:nvSpPr>
          <p:cNvPr id="23" name="Shape 17"/>
          <p:cNvSpPr/>
          <p:nvPr/>
        </p:nvSpPr>
        <p:spPr>
          <a:xfrm>
            <a:off x="3239542" y="4195539"/>
            <a:ext cx="2664842" cy="546422"/>
          </a:xfrm>
          <a:prstGeom prst="roundRect">
            <a:avLst>
              <a:gd name="adj" fmla="val 22461"/>
            </a:avLst>
          </a:prstGeom>
          <a:solidFill>
            <a:srgbClr val="00002E"/>
          </a:solidFill>
          <a:ln w="9525">
            <a:solidFill>
              <a:srgbClr val="D7425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330848" y="4286845"/>
            <a:ext cx="2482230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Score 3.5–4.49</a:t>
            </a:r>
            <a:endParaRPr lang="en-US" sz="750" dirty="0"/>
          </a:p>
        </p:txBody>
      </p:sp>
      <p:sp>
        <p:nvSpPr>
          <p:cNvPr id="25" name="Text 19"/>
          <p:cNvSpPr/>
          <p:nvPr/>
        </p:nvSpPr>
        <p:spPr>
          <a:xfrm>
            <a:off x="3330848" y="4437831"/>
            <a:ext cx="2482230" cy="21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SUMMARY</a:t>
            </a:r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Included in next scheduled daily digest at 5AM or 2PM CST.</a:t>
            </a:r>
            <a:endParaRPr lang="en-US" sz="600" dirty="0"/>
          </a:p>
        </p:txBody>
      </p:sp>
      <p:sp>
        <p:nvSpPr>
          <p:cNvPr id="26" name="Shape 20"/>
          <p:cNvSpPr/>
          <p:nvPr/>
        </p:nvSpPr>
        <p:spPr>
          <a:xfrm>
            <a:off x="5955506" y="4195539"/>
            <a:ext cx="2664916" cy="546422"/>
          </a:xfrm>
          <a:prstGeom prst="roundRect">
            <a:avLst>
              <a:gd name="adj" fmla="val 22461"/>
            </a:avLst>
          </a:prstGeom>
          <a:solidFill>
            <a:srgbClr val="00002E"/>
          </a:solidFill>
          <a:ln w="9525">
            <a:solidFill>
              <a:srgbClr val="DD785E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046812" y="4286845"/>
            <a:ext cx="2482304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📁</a:t>
            </a:r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Score &lt; 3.5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6046812" y="4437831"/>
            <a:ext cx="2482304" cy="21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LOG ONLY</a:t>
            </a:r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Stored silently for audit and trend analysis. No notification generated.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14524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Quality &amp; Governance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295772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Clean data. Auditable operations.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Every event that enters the system is subject to quality controls before analysis — ensuring the AI never scores stale, duplicate, or irrelevant content.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861840"/>
            <a:ext cx="2611636" cy="20010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1243" y="1942579"/>
            <a:ext cx="196304" cy="2454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8759" y="2399705"/>
            <a:ext cx="232127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Age Filter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8759" y="2670721"/>
            <a:ext cx="2321272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Only articles published within the last 24 hours are processed. Stale news cannot trigger alerts or inflate risk scores.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6108" y="1861840"/>
            <a:ext cx="2611710" cy="20010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73773" y="1942579"/>
            <a:ext cx="196304" cy="2454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411289" y="2399705"/>
            <a:ext cx="232134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URL Deduplication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11289" y="2670721"/>
            <a:ext cx="2321347" cy="1047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Each article URL is hashed and checked before processing. The same story is never scored twice — preventing duplicate emails and inflated event counts.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8712" y="1861840"/>
            <a:ext cx="2611710" cy="20010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16378" y="1942579"/>
            <a:ext cx="196304" cy="2454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153894" y="2399705"/>
            <a:ext cx="232134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Status Tracking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53894" y="2670721"/>
            <a:ext cx="2321347" cy="642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event records: 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processed_at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· 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alert_level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· 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summary_status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· 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critical_alert_status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· 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dedupe_key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23577" y="4010174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complete audit trail is maintained in Google Sheets — reviewable by any stakeholder without requiring access to the n8n workflow environment.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82488"/>
            <a:ext cx="809684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Capabilities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23577" y="946324"/>
            <a:ext cx="8096845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AI interprets risk. Humans decide.</a:t>
            </a:r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For every qualifying news event, the AI engine generates a structured, actionable intelligence package — not just a raw article link.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23577" y="1428899"/>
            <a:ext cx="3994696" cy="1329705"/>
          </a:xfrm>
          <a:prstGeom prst="roundRect">
            <a:avLst>
              <a:gd name="adj" fmla="val 13383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6481" y="1561802"/>
            <a:ext cx="355848" cy="355848"/>
          </a:xfrm>
          <a:prstGeom prst="ellipse">
            <a:avLst/>
          </a:prstGeom>
          <a:solidFill>
            <a:srgbClr val="F2B4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335" y="1659657"/>
            <a:ext cx="160139" cy="1601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6481" y="2025104"/>
            <a:ext cx="3728889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Risk Category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56481" y="2264048"/>
            <a:ext cx="3728889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Classified into one of 9 standardized supply chain risk categories for consistent reporting.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25727" y="1428899"/>
            <a:ext cx="3994696" cy="1329705"/>
          </a:xfrm>
          <a:prstGeom prst="roundRect">
            <a:avLst>
              <a:gd name="adj" fmla="val 13383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8630" y="1561802"/>
            <a:ext cx="355848" cy="355848"/>
          </a:xfrm>
          <a:prstGeom prst="ellipse">
            <a:avLst/>
          </a:prstGeom>
          <a:solidFill>
            <a:srgbClr val="D742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6485" y="1659657"/>
            <a:ext cx="160139" cy="1601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8630" y="2025104"/>
            <a:ext cx="3728889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Composite Score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58630" y="2264048"/>
            <a:ext cx="3728889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Severity, Operational Impact, and Urgency scores generated independently, then combined via weighted formula.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23577" y="2866058"/>
            <a:ext cx="3994696" cy="1329705"/>
          </a:xfrm>
          <a:prstGeom prst="roundRect">
            <a:avLst>
              <a:gd name="adj" fmla="val 13383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6481" y="2998961"/>
            <a:ext cx="355848" cy="355848"/>
          </a:xfrm>
          <a:prstGeom prst="ellipse">
            <a:avLst/>
          </a:prstGeom>
          <a:solidFill>
            <a:srgbClr val="DD78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4335" y="3096816"/>
            <a:ext cx="160139" cy="1601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6481" y="3462263"/>
            <a:ext cx="3728889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56481" y="3701207"/>
            <a:ext cx="3728889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AI-drafted, leadership-ready narrative explaining the risk in plain business language — no translation required.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625727" y="2866058"/>
            <a:ext cx="3994696" cy="1329705"/>
          </a:xfrm>
          <a:prstGeom prst="roundRect">
            <a:avLst>
              <a:gd name="adj" fmla="val 13383"/>
            </a:avLst>
          </a:prstGeom>
          <a:solidFill>
            <a:srgbClr val="00002E"/>
          </a:solidFill>
          <a:ln w="14288">
            <a:solidFill>
              <a:srgbClr val="48A8E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58630" y="2998961"/>
            <a:ext cx="355848" cy="355848"/>
          </a:xfrm>
          <a:prstGeom prst="ellipse">
            <a:avLst/>
          </a:prstGeom>
          <a:solidFill>
            <a:srgbClr val="48A8E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6485" y="3096816"/>
            <a:ext cx="160139" cy="1601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58630" y="3462263"/>
            <a:ext cx="3728889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Recommended Action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758630" y="3701207"/>
            <a:ext cx="3728889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Suggested next step for procurement or operations — flagged as AI-assisted, not autonomous.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23577" y="4316685"/>
            <a:ext cx="8096845" cy="444252"/>
          </a:xfrm>
          <a:prstGeom prst="roundRect">
            <a:avLst>
              <a:gd name="adj" fmla="val 40058"/>
            </a:avLst>
          </a:prstGeom>
          <a:solidFill>
            <a:srgbClr val="02234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193" y="4480173"/>
            <a:ext cx="148233" cy="11861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9042" y="4453756"/>
            <a:ext cx="8049964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Confidence scores (0–100) accompany every AI output. Human review remains essential for all high-impact supply chain decisions.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58354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Operational Data Layer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405086"/>
            <a:ext cx="8554045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Every event logged. Every alert tracked.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The data layer is designed for transparency today and enterprise migration tomorrow.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29295" y="1761753"/>
            <a:ext cx="3656484" cy="2057326"/>
          </a:xfrm>
          <a:prstGeom prst="roundRect">
            <a:avLst>
              <a:gd name="adj" fmla="val 15272"/>
            </a:avLst>
          </a:prstGeom>
          <a:solidFill>
            <a:srgbClr val="F2B42D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0189" y="1892647"/>
            <a:ext cx="339469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Why Google Sheets (Demo)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0189" y="2216051"/>
            <a:ext cx="3394695" cy="974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Zero infrastructure setup — operational immediately</a:t>
            </a:r>
            <a:endParaRPr lang="en-US" sz="1000" dirty="0"/>
          </a:p>
          <a:p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Full transparency for stakeholder review</a:t>
            </a:r>
            <a:endParaRPr lang="en-US" sz="1000" dirty="0"/>
          </a:p>
          <a:p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Direct Power BI connectivity for dashboard integration</a:t>
            </a:r>
            <a:endParaRPr lang="en-US" sz="1000" dirty="0"/>
          </a:p>
          <a:p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SQL-ready schema — migration is designed and ready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15644" y="1892647"/>
            <a:ext cx="430954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23 Fields Tracked Per Event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5644" y="2216051"/>
            <a:ext cx="4766742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Each logged event captures the full intelligence record including: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15644" y="2543249"/>
            <a:ext cx="4309542" cy="1230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Risk scores (Severity, Operational Impact, Urgency, Overall)</a:t>
            </a:r>
            <a:endParaRPr lang="en-US" sz="1000" dirty="0"/>
          </a:p>
          <a:p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Alert routing status and timestamps</a:t>
            </a:r>
            <a:endParaRPr lang="en-US" sz="1000" dirty="0"/>
          </a:p>
          <a:p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Deduplication key and source URL</a:t>
            </a:r>
            <a:endParaRPr lang="en-US" sz="1000" dirty="0"/>
          </a:p>
          <a:p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AI-generated summary, category, and recommended action</a:t>
            </a:r>
            <a:endParaRPr lang="en-US" sz="1000" dirty="0"/>
          </a:p>
          <a:p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Confidence score and processing metadata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3577" y="3966344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Future migration to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SQL Server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is architecturally complete — the schema, field mapping, and query patterns are already designed for a seamless transition when production deployment begins.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75804"/>
            <a:ext cx="8096845" cy="366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Production Design Thinking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3577" y="1021110"/>
            <a:ext cx="8096845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Designed for production. Deployed as a demo.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Every architectural decision — from scheduling intervals to schema design — was made with enterprise-grade production requirements in mind, not demo convenience.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23577" y="1544762"/>
            <a:ext cx="8096845" cy="2505894"/>
          </a:xfrm>
          <a:prstGeom prst="roundRect">
            <a:avLst>
              <a:gd name="adj" fmla="val 746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3577" y="1859905"/>
            <a:ext cx="8096845" cy="779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2172667"/>
            <a:ext cx="8096845" cy="779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2485430"/>
            <a:ext cx="8096845" cy="779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2798192"/>
            <a:ext cx="8096845" cy="779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3577" y="3110954"/>
            <a:ext cx="8096845" cy="779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3577" y="3423717"/>
            <a:ext cx="8096845" cy="779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954536" y="1544762"/>
            <a:ext cx="7798" cy="250589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785098" y="1544762"/>
            <a:ext cx="7798" cy="250589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3058" y="1625575"/>
            <a:ext cx="2631579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Component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081635" y="1625575"/>
            <a:ext cx="3033564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Demo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912197" y="1625575"/>
            <a:ext cx="3035945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Production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53058" y="1938337"/>
            <a:ext cx="2631579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Scheduler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081635" y="1938337"/>
            <a:ext cx="3033564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6 hours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912197" y="1938337"/>
            <a:ext cx="3035945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30 minutes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53058" y="2251100"/>
            <a:ext cx="2631579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Storage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81635" y="2251100"/>
            <a:ext cx="3033564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Google Sheets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12197" y="2251100"/>
            <a:ext cx="3035945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Enterprise Relational Database (SQL Server/Azure SQL)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53058" y="2563862"/>
            <a:ext cx="2631579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Supplier Data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081635" y="2563862"/>
            <a:ext cx="3033564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Fictional scenarios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12197" y="2563862"/>
            <a:ext cx="3035945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ERP/Supplier Master Integration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53058" y="2876624"/>
            <a:ext cx="2631579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Notifications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081635" y="2876624"/>
            <a:ext cx="3033564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Gmail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12197" y="2876624"/>
            <a:ext cx="3035945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Role-based Notifications (Email/Microsoft Teams/Slack)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53058" y="3189387"/>
            <a:ext cx="2631579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Analytics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081635" y="3189387"/>
            <a:ext cx="3033564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HTML prototype dashboard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912197" y="3189387"/>
            <a:ext cx="3035945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Enterprise BI Platform (Power BI, Tableau, Looker, Qlik Sense)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53058" y="3502149"/>
            <a:ext cx="2631579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Orchestration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081635" y="3502149"/>
            <a:ext cx="3033564" cy="155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n8n Cloud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12197" y="3502149"/>
            <a:ext cx="2578745" cy="467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Enterprise Workflow Platform</a:t>
            </a:r>
            <a:endParaRPr lang="en-US" sz="7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(n8n Enterprise, Azure Logic Apps, Power Automate, Camunda)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23577" y="4184377"/>
            <a:ext cx="8096845" cy="483245"/>
          </a:xfrm>
          <a:prstGeom prst="roundRect">
            <a:avLst>
              <a:gd name="adj" fmla="val 38730"/>
            </a:avLst>
          </a:prstGeom>
          <a:solidFill>
            <a:srgbClr val="183A13"/>
          </a:solidFill>
          <a:ln/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295" y="4359697"/>
            <a:ext cx="155897" cy="12471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928911" y="4334470"/>
            <a:ext cx="8023994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Core architecture, workflow design, and governance are production-ready.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01166"/>
            <a:ext cx="466784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Business Benefits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523577" y="911275"/>
            <a:ext cx="4667845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Operational value. Not just automation.</a:t>
            </a:r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The platform delivers measurable intelligence improvements across every layer of the supply chain risk function.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077" y="1397533"/>
            <a:ext cx="177924" cy="1779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9117" y="1393850"/>
            <a:ext cx="4282306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Reduced Manual Monitoring Effort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909117" y="1632793"/>
            <a:ext cx="4282306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Automated ingestion and scoring replaces hours of daily manual news review across scattered sources.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077" y="2213111"/>
            <a:ext cx="177924" cy="1779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9117" y="2209428"/>
            <a:ext cx="4282306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Faster Critical Escalation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909117" y="2448371"/>
            <a:ext cx="4282306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High-risk events reach leadership within minutes of publication — not hours or days after manual triage.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8077" y="3028690"/>
            <a:ext cx="177924" cy="1779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09117" y="3025006"/>
            <a:ext cx="4282306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Reduced Alert Fatigue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909117" y="3263950"/>
            <a:ext cx="4282306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Score-based routing ensures only genuinely critical events generate immediate notifications — quieting the noise without losing the signal.</a:t>
            </a:r>
            <a:endParaRPr lang="en-US" sz="9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8077" y="3844268"/>
            <a:ext cx="177924" cy="17792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09117" y="3840584"/>
            <a:ext cx="4282306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Evidence-Based Decisions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909117" y="4079528"/>
            <a:ext cx="4282306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alert includes source links, AI summaries, and confidence scores — giving leaders context, not just notifications.</a:t>
            </a:r>
            <a:endParaRPr lang="en-US" sz="900" dirty="0"/>
          </a:p>
        </p:txBody>
      </p:sp>
      <p:sp>
        <p:nvSpPr>
          <p:cNvPr id="17" name="Shape 10"/>
          <p:cNvSpPr/>
          <p:nvPr/>
        </p:nvSpPr>
        <p:spPr>
          <a:xfrm>
            <a:off x="523577" y="4562103"/>
            <a:ext cx="777776" cy="180231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2B42D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94717" y="4597673"/>
            <a:ext cx="1092696" cy="10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PROCUREMENT</a:t>
            </a:r>
            <a:endParaRPr lang="en-US" sz="700" dirty="0"/>
          </a:p>
        </p:txBody>
      </p:sp>
      <p:sp>
        <p:nvSpPr>
          <p:cNvPr id="19" name="Shape 12"/>
          <p:cNvSpPr/>
          <p:nvPr/>
        </p:nvSpPr>
        <p:spPr>
          <a:xfrm>
            <a:off x="1360661" y="4562103"/>
            <a:ext cx="673224" cy="180231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2B42D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1431801" y="4597673"/>
            <a:ext cx="988144" cy="10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OPERATIONS</a:t>
            </a:r>
            <a:endParaRPr lang="en-US" sz="700" dirty="0"/>
          </a:p>
        </p:txBody>
      </p:sp>
      <p:sp>
        <p:nvSpPr>
          <p:cNvPr id="21" name="Shape 14"/>
          <p:cNvSpPr/>
          <p:nvPr/>
        </p:nvSpPr>
        <p:spPr>
          <a:xfrm>
            <a:off x="2093193" y="4562103"/>
            <a:ext cx="1147837" cy="180231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2B42D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2164333" y="4597673"/>
            <a:ext cx="1462757" cy="10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EXECUTIVE LEADERSHIP</a:t>
            </a:r>
            <a:endParaRPr lang="en-US" sz="700" dirty="0"/>
          </a:p>
        </p:txBody>
      </p:sp>
      <p:sp>
        <p:nvSpPr>
          <p:cNvPr id="23" name="Shape 16"/>
          <p:cNvSpPr/>
          <p:nvPr/>
        </p:nvSpPr>
        <p:spPr>
          <a:xfrm>
            <a:off x="3300338" y="4562103"/>
            <a:ext cx="1182291" cy="180231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2B42D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3371478" y="4597673"/>
            <a:ext cx="1497211" cy="10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SUPPLY CHAIN ANALYSTS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09054"/>
            <a:ext cx="8096845" cy="330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Future Roadmap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23577" y="933227"/>
            <a:ext cx="8554045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Each phase delivers independent business value while expanding automation, governance, and AI-driven intelligence.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64856" y="1175742"/>
            <a:ext cx="14288" cy="3076352"/>
          </a:xfrm>
          <a:prstGeom prst="roundRect">
            <a:avLst>
              <a:gd name="adj" fmla="val 49998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22279" y="1295102"/>
            <a:ext cx="337468" cy="14288"/>
          </a:xfrm>
          <a:prstGeom prst="roundRect">
            <a:avLst>
              <a:gd name="adj" fmla="val 49998"/>
            </a:avLst>
          </a:prstGeom>
          <a:solidFill>
            <a:srgbClr val="F2B42D"/>
          </a:solidFill>
          <a:ln/>
        </p:spPr>
      </p:sp>
      <p:sp>
        <p:nvSpPr>
          <p:cNvPr id="6" name="Shape 4"/>
          <p:cNvSpPr/>
          <p:nvPr/>
        </p:nvSpPr>
        <p:spPr>
          <a:xfrm>
            <a:off x="4445459" y="1175742"/>
            <a:ext cx="253082" cy="253082"/>
          </a:xfrm>
          <a:prstGeom prst="ellipse">
            <a:avLst/>
          </a:prstGeom>
          <a:solidFill>
            <a:srgbClr val="00002E"/>
          </a:solidFill>
          <a:ln w="9525">
            <a:solidFill>
              <a:srgbClr val="F2B4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92563" y="1203015"/>
            <a:ext cx="1588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3577" y="1214363"/>
            <a:ext cx="3485927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3577" y="1437754"/>
            <a:ext cx="3485927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700" b="1" i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Foundation Platform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23577" y="1629519"/>
            <a:ext cx="3485927" cy="46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4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 Server / Azure SQL migration</a:t>
            </a:r>
            <a:endParaRPr lang="en-US" sz="850" dirty="0"/>
          </a:p>
          <a:p>
            <a:pPr algn="l" marL="172720" indent="-172720">
              <a:lnSpc>
                <a:spcPct val="124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Dashboard modernization</a:t>
            </a:r>
            <a:endParaRPr lang="en-US" sz="850" dirty="0"/>
          </a:p>
          <a:p>
            <a:pPr algn="l" marL="172720" indent="-172720">
              <a:lnSpc>
                <a:spcPct val="124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model &amp; schema finalization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23577" y="2156445"/>
            <a:ext cx="3485927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70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Business focus: Production-ready data foundation.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684254" y="1938412"/>
            <a:ext cx="337468" cy="14288"/>
          </a:xfrm>
          <a:prstGeom prst="roundRect">
            <a:avLst>
              <a:gd name="adj" fmla="val 49998"/>
            </a:avLst>
          </a:prstGeom>
          <a:solidFill>
            <a:srgbClr val="D7425E"/>
          </a:solidFill>
          <a:ln/>
        </p:spPr>
      </p:sp>
      <p:sp>
        <p:nvSpPr>
          <p:cNvPr id="13" name="Shape 11"/>
          <p:cNvSpPr/>
          <p:nvPr/>
        </p:nvSpPr>
        <p:spPr>
          <a:xfrm>
            <a:off x="4445459" y="1819052"/>
            <a:ext cx="253082" cy="253082"/>
          </a:xfrm>
          <a:prstGeom prst="ellipse">
            <a:avLst/>
          </a:prstGeom>
          <a:solidFill>
            <a:srgbClr val="00002E"/>
          </a:solidFill>
          <a:ln w="9525">
            <a:solidFill>
              <a:srgbClr val="D742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2563" y="1846325"/>
            <a:ext cx="1588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134496" y="1857673"/>
            <a:ext cx="3485927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Near Term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34496" y="2081064"/>
            <a:ext cx="3485927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00" b="1" i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Enterprise Integration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134496" y="2272829"/>
            <a:ext cx="3485927" cy="46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4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ERP / Supplier Master integration</a:t>
            </a:r>
            <a:endParaRPr lang="en-US" sz="850" dirty="0"/>
          </a:p>
          <a:p>
            <a:pPr algn="l" marL="172720" indent="-172720">
              <a:lnSpc>
                <a:spcPct val="124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Enterprise BI Platform connectivity</a:t>
            </a:r>
            <a:endParaRPr lang="en-US" sz="850" dirty="0"/>
          </a:p>
          <a:p>
            <a:pPr algn="l" marL="172720" indent="-172720">
              <a:lnSpc>
                <a:spcPct val="124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Teams / Slack notifications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134496" y="2799755"/>
            <a:ext cx="3485927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0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Business focus: Connect systems, improve visibility.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122279" y="2602929"/>
            <a:ext cx="337468" cy="14288"/>
          </a:xfrm>
          <a:prstGeom prst="roundRect">
            <a:avLst>
              <a:gd name="adj" fmla="val 49998"/>
            </a:avLst>
          </a:prstGeom>
          <a:solidFill>
            <a:srgbClr val="DD785E"/>
          </a:solidFill>
          <a:ln/>
        </p:spPr>
      </p:sp>
      <p:sp>
        <p:nvSpPr>
          <p:cNvPr id="20" name="Shape 18"/>
          <p:cNvSpPr/>
          <p:nvPr/>
        </p:nvSpPr>
        <p:spPr>
          <a:xfrm>
            <a:off x="4445459" y="2483569"/>
            <a:ext cx="253082" cy="253082"/>
          </a:xfrm>
          <a:prstGeom prst="ellipse">
            <a:avLst/>
          </a:prstGeom>
          <a:solidFill>
            <a:srgbClr val="00002E"/>
          </a:solidFill>
          <a:ln w="9525">
            <a:solidFill>
              <a:srgbClr val="DD78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92563" y="2510842"/>
            <a:ext cx="1588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23577" y="2522190"/>
            <a:ext cx="3485927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Mid Term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3577" y="2745581"/>
            <a:ext cx="3485927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700" b="1" i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Enterprise Operations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23577" y="2937346"/>
            <a:ext cx="3485927" cy="46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4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Role-based alert routing &amp; workflows</a:t>
            </a:r>
            <a:endParaRPr lang="en-US" sz="850" dirty="0"/>
          </a:p>
          <a:p>
            <a:pPr algn="l" marL="172720" indent="-172720">
              <a:lnSpc>
                <a:spcPct val="124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quality monitoring</a:t>
            </a:r>
            <a:endParaRPr lang="en-US" sz="850" dirty="0"/>
          </a:p>
          <a:p>
            <a:pPr algn="l" marL="172720" indent="-172720">
              <a:lnSpc>
                <a:spcPct val="124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Multi-source intelligence feeds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23577" y="3464272"/>
            <a:ext cx="3485927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70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Business focus: Governance, control, scalability.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684254" y="3256880"/>
            <a:ext cx="337468" cy="14288"/>
          </a:xfrm>
          <a:prstGeom prst="roundRect">
            <a:avLst>
              <a:gd name="adj" fmla="val 49998"/>
            </a:avLst>
          </a:prstGeom>
          <a:solidFill>
            <a:srgbClr val="48A8E2"/>
          </a:solidFill>
          <a:ln/>
        </p:spPr>
      </p:sp>
      <p:sp>
        <p:nvSpPr>
          <p:cNvPr id="27" name="Shape 25"/>
          <p:cNvSpPr/>
          <p:nvPr/>
        </p:nvSpPr>
        <p:spPr>
          <a:xfrm>
            <a:off x="4445459" y="3137520"/>
            <a:ext cx="253082" cy="253082"/>
          </a:xfrm>
          <a:prstGeom prst="ellipse">
            <a:avLst/>
          </a:prstGeom>
          <a:solidFill>
            <a:srgbClr val="00002E"/>
          </a:solidFill>
          <a:ln w="9525">
            <a:solidFill>
              <a:srgbClr val="48A8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2563" y="3164793"/>
            <a:ext cx="1588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134496" y="3176141"/>
            <a:ext cx="3485927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Future AI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34496" y="3399532"/>
            <a:ext cx="3485927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00" b="1" i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Intelligent Operations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134496" y="3591297"/>
            <a:ext cx="3485927" cy="46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4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Copilot for procurement analysts</a:t>
            </a:r>
            <a:endParaRPr lang="en-US" sz="850" dirty="0"/>
          </a:p>
          <a:p>
            <a:pPr algn="l" marL="172720" indent="-172720">
              <a:lnSpc>
                <a:spcPct val="124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Predictive forecasting &amp; root cause</a:t>
            </a:r>
            <a:endParaRPr lang="en-US" sz="850" dirty="0"/>
          </a:p>
          <a:p>
            <a:pPr algn="l" marL="172720" indent="-172720">
              <a:lnSpc>
                <a:spcPct val="124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Recommendation engine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134496" y="4118223"/>
            <a:ext cx="3485927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0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Business focus: AI-assisted decision support.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23577" y="4360813"/>
            <a:ext cx="8096845" cy="373559"/>
          </a:xfrm>
          <a:prstGeom prst="roundRect">
            <a:avLst>
              <a:gd name="adj" fmla="val 45174"/>
            </a:avLst>
          </a:prstGeom>
          <a:solidFill>
            <a:srgbClr val="785507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017" y="4506813"/>
            <a:ext cx="112440" cy="89967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60896" y="4485531"/>
            <a:ext cx="8104287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Each phase delivers standalone business value while progressively increasing enterprise automation, governance, and operational intelligence.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01464"/>
            <a:ext cx="466784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About the Developer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523577" y="911572"/>
            <a:ext cx="4667845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Enterprise operations experience meets AI workflow automation.</a:t>
            </a:r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This platform was built by a practitioner who has spent 20+ years at the intersection of enterprise systems and operational process design.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23577" y="1574974"/>
            <a:ext cx="2280196" cy="1228055"/>
          </a:xfrm>
          <a:prstGeom prst="roundRect">
            <a:avLst>
              <a:gd name="adj" fmla="val 14491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6481" y="1707877"/>
            <a:ext cx="2014389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Enterprise Systems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56481" y="1946821"/>
            <a:ext cx="2014389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ERP, EDI, manufacturing, and logistics operations — implementation, integration, and day-to-day operational support.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11227" y="1574974"/>
            <a:ext cx="2280196" cy="1228055"/>
          </a:xfrm>
          <a:prstGeom prst="roundRect">
            <a:avLst>
              <a:gd name="adj" fmla="val 14491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44130" y="1707877"/>
            <a:ext cx="2014389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Business &amp; IT Bridge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044130" y="1946821"/>
            <a:ext cx="2014389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exchange operations, cross-functional stakeholder alignment, and translating business requirements into technical solutions.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23577" y="2910483"/>
            <a:ext cx="4667845" cy="1047229"/>
          </a:xfrm>
          <a:prstGeom prst="roundRect">
            <a:avLst>
              <a:gd name="adj" fmla="val 16993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6481" y="3043386"/>
            <a:ext cx="4402038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Operational Intelligence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6481" y="3282330"/>
            <a:ext cx="4402038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Workflow automation, process improvement, and operational intelligence design — Now focused on Enterprise AI Automation Workflow Architecture Operational Intelligence Business Systems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23577" y="4078635"/>
            <a:ext cx="4667845" cy="663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9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Now focused on: </a:t>
            </a:r>
            <a:pPr algn="l" indent="0" marL="0">
              <a:lnSpc>
                <a:spcPct val="127000"/>
              </a:lnSpc>
              <a:spcAft>
                <a:spcPts val="9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AI-powered workflow automation · Business process automation architecture · Enterprise operational intelligence</a:t>
            </a:r>
            <a:endParaRPr lang="en-US" sz="9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Kaori Kashiwagi</a:t>
            </a:r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| GitHub: </a:t>
            </a:r>
            <a:pPr algn="l" indent="0" marL="0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github.com/kk-2050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35521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Design Philosophy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9882" y="1629519"/>
            <a:ext cx="790054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"The system separates event persistence, dashboard visibility, and human notification. All events are logged. Dashboards remain available for self-service monitoring. Only critical or summarized risks are pushed to users."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3577" y="1482254"/>
            <a:ext cx="14288" cy="713333"/>
          </a:xfrm>
          <a:prstGeom prst="roundRect">
            <a:avLst>
              <a:gd name="adj" fmla="val 49998"/>
            </a:avLst>
          </a:prstGeom>
          <a:solidFill>
            <a:srgbClr val="F2B4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2342852"/>
            <a:ext cx="2611636" cy="16083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5909" y="2488034"/>
            <a:ext cx="226412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Separation of Concerns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5909" y="2759050"/>
            <a:ext cx="2264122" cy="1047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Logging, alerting, and dashboarding are independent layers. Each serves a distinct purpose and audience — preventing coupling that creates fragility at scale.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6108" y="2342852"/>
            <a:ext cx="2611710" cy="16083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68439" y="2488034"/>
            <a:ext cx="226419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468439" y="2759050"/>
            <a:ext cx="2264197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recommends. Humans decide. The platform amplifies human judgment — it does not replace it. Especially for high-impact supply chain actions.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8712" y="2342852"/>
            <a:ext cx="2611710" cy="160838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11044" y="2488034"/>
            <a:ext cx="226419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Enterprise-Grade Reliability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211044" y="2759050"/>
            <a:ext cx="2264197" cy="1047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design decision — from deduplication to audit tracking to schema design — is made for production-grade reliability, not demo convenience.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294977" y="4098503"/>
            <a:ext cx="8554045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Designed for enterprise-grade reliability — not just automation.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2026-07-30T21:38:06Z</dcterms:created>
  <dcterms:modified xsi:type="dcterms:W3CDTF">2026-07-30T21:38:06Z</dcterms:modified>
</cp:coreProperties>
</file>